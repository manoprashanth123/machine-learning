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Canva Sans" panose="020B0604020202020204" charset="0"/>
      <p:regular r:id="rId11"/>
    </p:embeddedFont>
    <p:embeddedFont>
      <p:font typeface="Canva Sans Bold" panose="020B0604020202020204" charset="0"/>
      <p:regular r:id="rId12"/>
    </p:embeddedFont>
    <p:embeddedFont>
      <p:font typeface="Futura Bold" panose="020B0604020202020204" charset="0"/>
      <p:regular r:id="rId13"/>
    </p:embeddedFont>
    <p:embeddedFont>
      <p:font typeface="Varela Round" panose="020F0502020204030204" pitchFamily="2" charset="-79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894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 txBox="1"/>
          <p:nvPr/>
        </p:nvSpPr>
        <p:spPr>
          <a:xfrm>
            <a:off x="2384409" y="3678040"/>
            <a:ext cx="12988941" cy="2038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0"/>
              </a:lnSpc>
            </a:pPr>
            <a:r>
              <a:rPr lang="en-US" sz="8000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DECISION TREE LEARNING AND REPRESENTATION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0" y="7429500"/>
            <a:ext cx="6900399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34697"/>
                </a:solidFill>
                <a:latin typeface="Canva Sans"/>
                <a:ea typeface="Canva Sans"/>
                <a:cs typeface="Canva Sans"/>
                <a:sym typeface="Canva Sans"/>
              </a:rPr>
              <a:t>Mano Prashanth R[192412601]</a:t>
            </a:r>
          </a:p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34697"/>
                </a:solidFill>
                <a:latin typeface="Canva Sans"/>
                <a:ea typeface="Canva Sans"/>
                <a:cs typeface="Canva Sans"/>
                <a:sym typeface="Canva Sans"/>
              </a:rPr>
              <a:t>ITA0603[Machine Learning]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-4689" y="0"/>
            <a:ext cx="18288000" cy="2497541"/>
            <a:chOff x="0" y="0"/>
            <a:chExt cx="24384000" cy="3330054"/>
          </a:xfrm>
        </p:grpSpPr>
        <p:sp>
          <p:nvSpPr>
            <p:cNvPr id="12" name="Freeform 12" descr="A blue and white logo  AI-generated content may be incorrect."/>
            <p:cNvSpPr/>
            <p:nvPr/>
          </p:nvSpPr>
          <p:spPr>
            <a:xfrm>
              <a:off x="0" y="0"/>
              <a:ext cx="24384000" cy="3330067"/>
            </a:xfrm>
            <a:custGeom>
              <a:avLst/>
              <a:gdLst/>
              <a:ahLst/>
              <a:cxnLst/>
              <a:rect l="l" t="t" r="r" b="b"/>
              <a:pathLst>
                <a:path w="24384000" h="3330067">
                  <a:moveTo>
                    <a:pt x="0" y="0"/>
                  </a:moveTo>
                  <a:lnTo>
                    <a:pt x="24384000" y="0"/>
                  </a:lnTo>
                  <a:lnTo>
                    <a:pt x="24384000" y="3330067"/>
                  </a:lnTo>
                  <a:lnTo>
                    <a:pt x="0" y="333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207" r="-320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1861169"/>
            <a:ext cx="4126889" cy="6532260"/>
            <a:chOff x="0" y="0"/>
            <a:chExt cx="639363" cy="101201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9363" cy="1012018"/>
            </a:xfrm>
            <a:custGeom>
              <a:avLst/>
              <a:gdLst/>
              <a:ahLst/>
              <a:cxnLst/>
              <a:rect l="l" t="t" r="r" b="b"/>
              <a:pathLst>
                <a:path w="639363" h="1012018">
                  <a:moveTo>
                    <a:pt x="43147" y="0"/>
                  </a:moveTo>
                  <a:lnTo>
                    <a:pt x="596216" y="0"/>
                  </a:lnTo>
                  <a:cubicBezTo>
                    <a:pt x="620045" y="0"/>
                    <a:pt x="639363" y="19318"/>
                    <a:pt x="639363" y="43147"/>
                  </a:cubicBezTo>
                  <a:lnTo>
                    <a:pt x="639363" y="968871"/>
                  </a:lnTo>
                  <a:cubicBezTo>
                    <a:pt x="639363" y="992700"/>
                    <a:pt x="620045" y="1012018"/>
                    <a:pt x="596216" y="1012018"/>
                  </a:cubicBezTo>
                  <a:lnTo>
                    <a:pt x="43147" y="1012018"/>
                  </a:lnTo>
                  <a:cubicBezTo>
                    <a:pt x="31704" y="1012018"/>
                    <a:pt x="20729" y="1007472"/>
                    <a:pt x="12638" y="999380"/>
                  </a:cubicBezTo>
                  <a:cubicBezTo>
                    <a:pt x="4546" y="991289"/>
                    <a:pt x="0" y="980314"/>
                    <a:pt x="0" y="968871"/>
                  </a:cubicBezTo>
                  <a:lnTo>
                    <a:pt x="0" y="43147"/>
                  </a:lnTo>
                  <a:cubicBezTo>
                    <a:pt x="0" y="19318"/>
                    <a:pt x="19318" y="0"/>
                    <a:pt x="43147" y="0"/>
                  </a:cubicBezTo>
                  <a:close/>
                </a:path>
              </a:pathLst>
            </a:custGeom>
            <a:blipFill>
              <a:blip r:embed="rId2"/>
              <a:stretch>
                <a:fillRect l="-30402" r="-3040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663812" y="1104900"/>
            <a:ext cx="8960375" cy="1209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sz="8462" b="1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INTRODUCTION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465984" y="2797809"/>
            <a:ext cx="12603956" cy="5595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A Decision Tree is a supervised machine learning algorithm.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It is used for classification and regression tasks.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It makes decisions by splitting data into branches based on feature values.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The final prediction is made at the leaf node.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Decision Trees are easy to understand and visualize, making them suitable for both beginners and experts.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They require minimal data preprocessing and can handle both numerical and categorical data.</a:t>
            </a:r>
          </a:p>
          <a:p>
            <a:pPr algn="ctr">
              <a:lnSpc>
                <a:spcPts val="4480"/>
              </a:lnSpc>
            </a:pPr>
            <a:endParaRPr lang="en-US" sz="320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9005" y="2343150"/>
            <a:ext cx="11124641" cy="691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Start with the complete training dataset.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Calculate the Entropy of each attribute to measure data impurity.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Compute the Information Gain for every attribute.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Select the attribute with the highest Information Gain as the decision node.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Split the dataset into smaller subsets based on the selected attribute.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Repeat the process for each subset until a stopping condition is reached.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Create Leaf Nodes to assign the final class label or prediction</a:t>
            </a:r>
          </a:p>
          <a:p>
            <a:pPr algn="ctr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2189141" y="1866020"/>
            <a:ext cx="5015884" cy="6965061"/>
          </a:xfrm>
          <a:custGeom>
            <a:avLst/>
            <a:gdLst/>
            <a:ahLst/>
            <a:cxnLst/>
            <a:rect l="l" t="t" r="r" b="b"/>
            <a:pathLst>
              <a:path w="5015884" h="6965061">
                <a:moveTo>
                  <a:pt x="0" y="0"/>
                </a:moveTo>
                <a:lnTo>
                  <a:pt x="5015884" y="0"/>
                </a:lnTo>
                <a:lnTo>
                  <a:pt x="5015884" y="6965061"/>
                </a:lnTo>
                <a:lnTo>
                  <a:pt x="0" y="69650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4443415" y="635964"/>
            <a:ext cx="7708212" cy="7854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Working of Decision  Tree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/>
          <p:cNvSpPr/>
          <p:nvPr/>
        </p:nvSpPr>
        <p:spPr>
          <a:xfrm>
            <a:off x="3924840" y="4041686"/>
            <a:ext cx="6654124" cy="1762068"/>
          </a:xfrm>
          <a:custGeom>
            <a:avLst/>
            <a:gdLst/>
            <a:ahLst/>
            <a:cxnLst/>
            <a:rect l="l" t="t" r="r" b="b"/>
            <a:pathLst>
              <a:path w="6654124" h="1762068">
                <a:moveTo>
                  <a:pt x="0" y="0"/>
                </a:moveTo>
                <a:lnTo>
                  <a:pt x="6654124" y="0"/>
                </a:lnTo>
                <a:lnTo>
                  <a:pt x="6654124" y="1762067"/>
                </a:lnTo>
                <a:lnTo>
                  <a:pt x="0" y="17620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/>
          <p:cNvSpPr txBox="1"/>
          <p:nvPr/>
        </p:nvSpPr>
        <p:spPr>
          <a:xfrm>
            <a:off x="1903281" y="1035022"/>
            <a:ext cx="12595488" cy="71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50"/>
              </a:lnSpc>
            </a:pPr>
            <a:r>
              <a:rPr lang="en-US" sz="5000" b="1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ENTROPY AND INFORMATION GAIN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94813" y="2034493"/>
            <a:ext cx="12603956" cy="2858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Entropy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Measures the impurity or randomness of data.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Lower entropy means better classification.</a:t>
            </a:r>
          </a:p>
          <a:p>
            <a:pPr algn="l">
              <a:lnSpc>
                <a:spcPts val="4480"/>
              </a:lnSpc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Formula</a:t>
            </a:r>
          </a:p>
          <a:p>
            <a:pPr algn="l">
              <a:lnSpc>
                <a:spcPts val="4480"/>
              </a:lnSpc>
            </a:pPr>
            <a:endParaRPr lang="en-US" sz="32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600200" y="6480887"/>
            <a:ext cx="12603956" cy="2858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Information Gain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Measures the reduction in entropy after splitting the data.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Higher Information Gain indicates a better attribute for splitting.</a:t>
            </a:r>
          </a:p>
          <a:p>
            <a:pPr algn="l">
              <a:lnSpc>
                <a:spcPts val="4480"/>
              </a:lnSpc>
            </a:pPr>
            <a:endParaRPr lang="en-US" sz="32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75713" y="1906142"/>
            <a:ext cx="14991962" cy="7639698"/>
          </a:xfrm>
          <a:custGeom>
            <a:avLst/>
            <a:gdLst/>
            <a:ahLst/>
            <a:cxnLst/>
            <a:rect l="l" t="t" r="r" b="b"/>
            <a:pathLst>
              <a:path w="14991962" h="7639698">
                <a:moveTo>
                  <a:pt x="0" y="0"/>
                </a:moveTo>
                <a:lnTo>
                  <a:pt x="14991962" y="0"/>
                </a:lnTo>
                <a:lnTo>
                  <a:pt x="14991962" y="7639699"/>
                </a:lnTo>
                <a:lnTo>
                  <a:pt x="0" y="76396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64" t="-23564" r="-1633" b="-11576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9139238" y="4274503"/>
            <a:ext cx="9525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4055698" y="311680"/>
            <a:ext cx="8364902" cy="8188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Example of Decision Tree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447193" y="2564096"/>
            <a:ext cx="6284620" cy="3299426"/>
          </a:xfrm>
          <a:custGeom>
            <a:avLst/>
            <a:gdLst/>
            <a:ahLst/>
            <a:cxnLst/>
            <a:rect l="l" t="t" r="r" b="b"/>
            <a:pathLst>
              <a:path w="6284620" h="3299426">
                <a:moveTo>
                  <a:pt x="0" y="0"/>
                </a:moveTo>
                <a:lnTo>
                  <a:pt x="6284621" y="0"/>
                </a:lnTo>
                <a:lnTo>
                  <a:pt x="6284621" y="3299426"/>
                </a:lnTo>
                <a:lnTo>
                  <a:pt x="0" y="32994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1390440" y="1065455"/>
            <a:ext cx="13982910" cy="71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50"/>
              </a:lnSpc>
            </a:pPr>
            <a:r>
              <a:rPr lang="en-US" sz="5000" b="1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TREE PRUNING, ADVANTAGES &amp; LIMITATIONS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11040" y="2762370"/>
            <a:ext cx="5530957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Tree Pruning</a:t>
            </a:r>
          </a:p>
        </p:txBody>
      </p:sp>
      <p:sp>
        <p:nvSpPr>
          <p:cNvPr id="13" name="Freeform 13"/>
          <p:cNvSpPr/>
          <p:nvPr/>
        </p:nvSpPr>
        <p:spPr>
          <a:xfrm>
            <a:off x="5269035" y="6286731"/>
            <a:ext cx="6284620" cy="3299426"/>
          </a:xfrm>
          <a:custGeom>
            <a:avLst/>
            <a:gdLst/>
            <a:ahLst/>
            <a:cxnLst/>
            <a:rect l="l" t="t" r="r" b="b"/>
            <a:pathLst>
              <a:path w="6284620" h="3299426">
                <a:moveTo>
                  <a:pt x="0" y="0"/>
                </a:moveTo>
                <a:lnTo>
                  <a:pt x="6284620" y="0"/>
                </a:lnTo>
                <a:lnTo>
                  <a:pt x="6284620" y="3299426"/>
                </a:lnTo>
                <a:lnTo>
                  <a:pt x="0" y="32994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>
            <a:off x="9921175" y="2564096"/>
            <a:ext cx="6284620" cy="3299426"/>
          </a:xfrm>
          <a:custGeom>
            <a:avLst/>
            <a:gdLst/>
            <a:ahLst/>
            <a:cxnLst/>
            <a:rect l="l" t="t" r="r" b="b"/>
            <a:pathLst>
              <a:path w="6284620" h="3299426">
                <a:moveTo>
                  <a:pt x="0" y="0"/>
                </a:moveTo>
                <a:lnTo>
                  <a:pt x="6284621" y="0"/>
                </a:lnTo>
                <a:lnTo>
                  <a:pt x="6284621" y="3299426"/>
                </a:lnTo>
                <a:lnTo>
                  <a:pt x="0" y="32994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5457263" y="6500133"/>
            <a:ext cx="5530957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Limitations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132905" y="2914770"/>
            <a:ext cx="5530957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Advantages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826419" y="3500140"/>
            <a:ext cx="5266581" cy="1636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5028" lvl="1" indent="-257514" algn="l">
              <a:lnSpc>
                <a:spcPts val="3339"/>
              </a:lnSpc>
              <a:buFont typeface="Arial"/>
              <a:buChar char="•"/>
            </a:pPr>
            <a:r>
              <a:rPr lang="en-US" sz="23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Removes unnecessary branches.</a:t>
            </a:r>
          </a:p>
          <a:p>
            <a:pPr marL="515028" lvl="1" indent="-257514" algn="l">
              <a:lnSpc>
                <a:spcPts val="3339"/>
              </a:lnSpc>
              <a:buFont typeface="Arial"/>
              <a:buChar char="•"/>
            </a:pPr>
            <a:r>
              <a:rPr lang="en-US" sz="23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Reduces overfitting.</a:t>
            </a:r>
          </a:p>
          <a:p>
            <a:pPr marL="515028" lvl="1" indent="-257514" algn="l">
              <a:lnSpc>
                <a:spcPts val="3339"/>
              </a:lnSpc>
              <a:buFont typeface="Arial"/>
              <a:buChar char="•"/>
            </a:pPr>
            <a:r>
              <a:rPr lang="en-US" sz="23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Improves prediction accuracy.</a:t>
            </a:r>
          </a:p>
          <a:p>
            <a:pPr algn="l">
              <a:lnSpc>
                <a:spcPts val="3130"/>
              </a:lnSpc>
            </a:pPr>
            <a:endParaRPr lang="en-US" sz="2385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5457263" y="7202448"/>
            <a:ext cx="5530957" cy="2055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5028" lvl="1" indent="-257514" algn="l">
              <a:lnSpc>
                <a:spcPts val="3339"/>
              </a:lnSpc>
              <a:buFont typeface="Arial"/>
              <a:buChar char="•"/>
            </a:pPr>
            <a:r>
              <a:rPr lang="en-US" sz="23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Can overfit the training data.</a:t>
            </a:r>
          </a:p>
          <a:p>
            <a:pPr marL="515028" lvl="1" indent="-257514" algn="l">
              <a:lnSpc>
                <a:spcPts val="3339"/>
              </a:lnSpc>
              <a:buFont typeface="Arial"/>
              <a:buChar char="•"/>
            </a:pPr>
            <a:r>
              <a:rPr lang="en-US" sz="23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Sensitive to noisy data.</a:t>
            </a:r>
          </a:p>
          <a:p>
            <a:pPr marL="515028" lvl="1" indent="-257514" algn="l">
              <a:lnSpc>
                <a:spcPts val="3339"/>
              </a:lnSpc>
              <a:buFont typeface="Arial"/>
              <a:buChar char="•"/>
            </a:pPr>
            <a:r>
              <a:rPr lang="en-US" sz="23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May become complex for large datasets.</a:t>
            </a:r>
          </a:p>
          <a:p>
            <a:pPr algn="l">
              <a:lnSpc>
                <a:spcPts val="3130"/>
              </a:lnSpc>
            </a:pPr>
            <a:endParaRPr lang="en-US" sz="2385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921175" y="3622356"/>
            <a:ext cx="5997625" cy="1663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6002" lvl="1" indent="-258001" algn="l">
              <a:lnSpc>
                <a:spcPts val="3346"/>
              </a:lnSpc>
              <a:buFont typeface="Arial"/>
              <a:buChar char="•"/>
            </a:pPr>
            <a:r>
              <a:rPr lang="en-US" sz="239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Easy to understand and visualize.</a:t>
            </a:r>
          </a:p>
          <a:p>
            <a:pPr marL="516002" lvl="1" indent="-258001" algn="l">
              <a:lnSpc>
                <a:spcPts val="3346"/>
              </a:lnSpc>
              <a:buFont typeface="Arial"/>
              <a:buChar char="•"/>
            </a:pPr>
            <a:r>
              <a:rPr lang="en-US" sz="239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Requires minimal data preprocessing.</a:t>
            </a:r>
          </a:p>
          <a:p>
            <a:pPr marL="516002" lvl="1" indent="-258001" algn="l">
              <a:lnSpc>
                <a:spcPts val="3346"/>
              </a:lnSpc>
              <a:buFont typeface="Arial"/>
              <a:buChar char="•"/>
            </a:pPr>
            <a:r>
              <a:rPr lang="en-US" sz="239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Fast prediction.</a:t>
            </a:r>
          </a:p>
          <a:p>
            <a:pPr algn="l">
              <a:lnSpc>
                <a:spcPts val="3346"/>
              </a:lnSpc>
            </a:pPr>
            <a:endParaRPr lang="en-US" sz="239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3423307" y="805864"/>
            <a:ext cx="8960375" cy="1209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sz="8462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APPLICATIONS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26163" y="2643738"/>
            <a:ext cx="13546931" cy="5595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dirty="0">
                <a:solidFill>
                  <a:srgbClr val="034697"/>
                </a:solidFill>
                <a:latin typeface="Canva Sans"/>
                <a:ea typeface="Canva Sans"/>
                <a:cs typeface="Canva Sans"/>
                <a:sym typeface="Canva Sans"/>
              </a:rPr>
              <a:t>Decision Trees are used in healthcare to predict diseases and assist doctors in making accurate diagnoses.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dirty="0">
                <a:solidFill>
                  <a:srgbClr val="034697"/>
                </a:solidFill>
                <a:latin typeface="Canva Sans"/>
                <a:ea typeface="Canva Sans"/>
                <a:cs typeface="Canva Sans"/>
                <a:sym typeface="Canva Sans"/>
              </a:rPr>
              <a:t>Banks use Decision Trees to evaluate loan applications and assess the creditworthiness of customers.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dirty="0">
                <a:solidFill>
                  <a:srgbClr val="034697"/>
                </a:solidFill>
                <a:latin typeface="Canva Sans"/>
                <a:ea typeface="Canva Sans"/>
                <a:cs typeface="Canva Sans"/>
                <a:sym typeface="Canva Sans"/>
              </a:rPr>
              <a:t>E-commerce companies apply Decision Trees to recommend products based on customer preferences and purchasing behavior.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dirty="0">
                <a:solidFill>
                  <a:srgbClr val="034697"/>
                </a:solidFill>
                <a:latin typeface="Canva Sans"/>
                <a:ea typeface="Canva Sans"/>
                <a:cs typeface="Canva Sans"/>
                <a:sym typeface="Canva Sans"/>
              </a:rPr>
              <a:t>Cybersecurity systems use Decision Trees to detect fraudulent transactions and identify suspicious activities.</a:t>
            </a:r>
          </a:p>
          <a:p>
            <a:pPr algn="r">
              <a:lnSpc>
                <a:spcPts val="4480"/>
              </a:lnSpc>
            </a:pPr>
            <a:endParaRPr lang="en-US" sz="3200" dirty="0">
              <a:solidFill>
                <a:srgbClr val="034697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4043560" y="1104900"/>
            <a:ext cx="8960375" cy="1209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sz="8462" b="1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CONCLUSION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33761" y="2538730"/>
            <a:ext cx="13379974" cy="6719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Decision Trees are powerful supervised machine learning algorithms.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They classify data using Entropy and Information Gain.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Tree Pruning helps prevent overfitting and improves model performance.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They are simple, interpretable, and widely used in real-world decision-making.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They provide fast predictions and require minimal data preprocessing.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Decision Trees form the foundation for advanced ensemble methods such as Random Forest and Gradient Boosting.</a:t>
            </a:r>
          </a:p>
          <a:p>
            <a:pPr algn="l">
              <a:lnSpc>
                <a:spcPts val="4480"/>
              </a:lnSpc>
            </a:pPr>
            <a:endParaRPr lang="en-US" sz="32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3327384" y="3607558"/>
            <a:ext cx="11633233" cy="3186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06"/>
              </a:lnSpc>
            </a:pPr>
            <a:r>
              <a:rPr lang="en-US" sz="12479" b="1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THANK</a:t>
            </a:r>
          </a:p>
          <a:p>
            <a:pPr algn="ctr">
              <a:lnSpc>
                <a:spcPts val="11106"/>
              </a:lnSpc>
            </a:pPr>
            <a:r>
              <a:rPr lang="en-US" sz="12479" b="1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406</Words>
  <Application>Microsoft Office PowerPoint</Application>
  <PresentationFormat>Custom</PresentationFormat>
  <Paragraphs>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Futura Bold</vt:lpstr>
      <vt:lpstr>Calibri</vt:lpstr>
      <vt:lpstr>Arial</vt:lpstr>
      <vt:lpstr>Varela Round</vt:lpstr>
      <vt:lpstr>Canva Sans</vt:lpstr>
      <vt:lpstr>Canva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Mano Prashanth R _CO1_AT3_ITA0603</dc:title>
  <cp:lastModifiedBy>puli yt</cp:lastModifiedBy>
  <cp:revision>2</cp:revision>
  <dcterms:created xsi:type="dcterms:W3CDTF">2006-08-16T00:00:00Z</dcterms:created>
  <dcterms:modified xsi:type="dcterms:W3CDTF">2026-07-25T12:53:46Z</dcterms:modified>
  <dc:identifier>DAHQT5WRcAw</dc:identifier>
</cp:coreProperties>
</file>